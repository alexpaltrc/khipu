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dc170ef37447b2" /><Relationship Type="http://schemas.openxmlformats.org/officeDocument/2006/relationships/extended-properties" Target="/docProps/app.xml" Id="R7412255ec46840ab" /><Relationship Type="http://schemas.openxmlformats.org/officeDocument/2006/relationships/officeDocument" Target="/ppt/presentation.xml" Id="R54bc191b04024c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6ef902b0b9443c"/>
  </p:sldMasterIdLst>
  <p:notesMasterIdLst>
    <p:notesMasterId xmlns:r="http://schemas.openxmlformats.org/officeDocument/2006/relationships" r:id="R0eabaa4a8ed149b3"/>
  </p:notesMasterIdLst>
  <p:sldIdLst>
    <p:sldId xmlns:r="http://schemas.openxmlformats.org/officeDocument/2006/relationships" id="256" r:id="R3dd170ddb9254a68"/>
    <p:sldId xmlns:r="http://schemas.openxmlformats.org/officeDocument/2006/relationships" id="257" r:id="R0aefbbb2698c4a0d"/>
    <p:sldId xmlns:r="http://schemas.openxmlformats.org/officeDocument/2006/relationships" id="258" r:id="R7bd9ca4461bd4b6b"/>
    <p:sldId xmlns:r="http://schemas.openxmlformats.org/officeDocument/2006/relationships" id="259" r:id="R7749cbc7f36646e7"/>
    <p:sldId xmlns:r="http://schemas.openxmlformats.org/officeDocument/2006/relationships" id="260" r:id="Rfe63e80ae3b749c4"/>
    <p:sldId xmlns:r="http://schemas.openxmlformats.org/officeDocument/2006/relationships" id="261" r:id="R525780fe431d4446"/>
    <p:sldId xmlns:r="http://schemas.openxmlformats.org/officeDocument/2006/relationships" id="262" r:id="Rba25dd9cfa31484e"/>
    <p:sldId xmlns:r="http://schemas.openxmlformats.org/officeDocument/2006/relationships" id="263" r:id="R3016d7e371cb446b"/>
    <p:sldId xmlns:r="http://schemas.openxmlformats.org/officeDocument/2006/relationships" id="264" r:id="R294fe65cfd654fa9"/>
    <p:sldId xmlns:r="http://schemas.openxmlformats.org/officeDocument/2006/relationships" id="265" r:id="R665d595f981e49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bce6defc264410" /><Relationship Type="http://schemas.openxmlformats.org/officeDocument/2006/relationships/slideMaster" Target="/ppt/slideMasters/slideMaster1.xml" Id="Rb06ef902b0b9443c" /><Relationship Type="http://schemas.openxmlformats.org/officeDocument/2006/relationships/notesMaster" Target="/ppt/notesMasters/notesMaster1.xml" Id="R0eabaa4a8ed149b3" /><Relationship Type="http://schemas.openxmlformats.org/officeDocument/2006/relationships/presProps" Target="/ppt/presProps.xml" Id="Ra91780b453074847" /><Relationship Type="http://schemas.openxmlformats.org/officeDocument/2006/relationships/tableStyles" Target="/ppt/tableStyles.xml" Id="Rb82a89222b4b437e" /><Relationship Type="http://schemas.openxmlformats.org/officeDocument/2006/relationships/slide" Target="/ppt/slides/slide1.xml" Id="R3dd170ddb9254a68" /><Relationship Type="http://schemas.openxmlformats.org/officeDocument/2006/relationships/slide" Target="/ppt/slides/slide2.xml" Id="R0aefbbb2698c4a0d" /><Relationship Type="http://schemas.openxmlformats.org/officeDocument/2006/relationships/slide" Target="/ppt/slides/slide3.xml" Id="R7bd9ca4461bd4b6b" /><Relationship Type="http://schemas.openxmlformats.org/officeDocument/2006/relationships/slide" Target="/ppt/slides/slide4.xml" Id="R7749cbc7f36646e7" /><Relationship Type="http://schemas.openxmlformats.org/officeDocument/2006/relationships/slide" Target="/ppt/slides/slide5.xml" Id="Rfe63e80ae3b749c4" /><Relationship Type="http://schemas.openxmlformats.org/officeDocument/2006/relationships/slide" Target="/ppt/slides/slide6.xml" Id="R525780fe431d4446" /><Relationship Type="http://schemas.openxmlformats.org/officeDocument/2006/relationships/slide" Target="/ppt/slides/slide7.xml" Id="Rba25dd9cfa31484e" /><Relationship Type="http://schemas.openxmlformats.org/officeDocument/2006/relationships/slide" Target="/ppt/slides/slide8.xml" Id="R3016d7e371cb446b" /><Relationship Type="http://schemas.openxmlformats.org/officeDocument/2006/relationships/slide" Target="/ppt/slides/slide9.xml" Id="R294fe65cfd654fa9" /><Relationship Type="http://schemas.openxmlformats.org/officeDocument/2006/relationships/slide" Target="/ppt/slides/slide10.xml" Id="R665d595f981e49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14e85c9a564a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55f3b7b7c241e7" /><Relationship Type="http://schemas.openxmlformats.org/officeDocument/2006/relationships/notesMaster" Target="/ppt/notesMasters/notesMaster1.xml" Id="R53fcac8d23bb45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9fb082ed4c4a90" /><Relationship Type="http://schemas.openxmlformats.org/officeDocument/2006/relationships/notesMaster" Target="/ppt/notesMasters/notesMaster1.xml" Id="Rf09cba0695a445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775e9666a34655" /><Relationship Type="http://schemas.openxmlformats.org/officeDocument/2006/relationships/notesMaster" Target="/ppt/notesMasters/notesMaster1.xml" Id="Reded406af82043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2177b64fd54af6" /><Relationship Type="http://schemas.openxmlformats.org/officeDocument/2006/relationships/notesMaster" Target="/ppt/notesMasters/notesMaster1.xml" Id="Refe3a26e9ce040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721babf3304d88" /><Relationship Type="http://schemas.openxmlformats.org/officeDocument/2006/relationships/notesMaster" Target="/ppt/notesMasters/notesMaster1.xml" Id="Rea4be1a073dd4f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21be0524754c76" /><Relationship Type="http://schemas.openxmlformats.org/officeDocument/2006/relationships/notesMaster" Target="/ppt/notesMasters/notesMaster1.xml" Id="R7fa654881c10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a8643efb6247ee" /><Relationship Type="http://schemas.openxmlformats.org/officeDocument/2006/relationships/notesMaster" Target="/ppt/notesMasters/notesMaster1.xml" Id="R4cab0507de8b42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5d2d7816314654" /><Relationship Type="http://schemas.openxmlformats.org/officeDocument/2006/relationships/notesMaster" Target="/ppt/notesMasters/notesMaster1.xml" Id="Reacb279e5d2e46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66863b9d624411" /><Relationship Type="http://schemas.openxmlformats.org/officeDocument/2006/relationships/notesMaster" Target="/ppt/notesMasters/notesMaster1.xml" Id="Rc19d0b19620949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1e1322314e49ff" /><Relationship Type="http://schemas.openxmlformats.org/officeDocument/2006/relationships/notesMaster" Target="/ppt/notesMasters/notesMaster1.xml" Id="R218a2f999b1146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Identidad elegida por el usuario: cuarta variante Percha anudada. Paleta violeta fijada para la marca. El paquete no cambia el tema ni el acento de la interfaz.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Interpretación de diseño. Referencia histórica: Museo Larco, Inca Quipus, https://www.museolarco.org/en/exhibition/permanent-exhibition/online-exhibition/textiles-from-ancient-peru/inca-quipus/ . Los quipus registraban información con cuerdas y nudos. No se afirma una equivalencia histórica con la expansión de 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Historia aportada por la conversación. El usuario pidió ampliar a otras familias. No se inventan dibujos de las primeras rutas, cuya lámina no forma parte de las referencias recibidas.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Recortes de la lámina original khipu-seis-territorios.png. No reproducen la antigua pausa con barras, que el usuario descartó después.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asistente prefería la primera variante. La selección final pertenece al usuario. No se atribuyen al usuario razones adicionales. Las interpretaciones visuales se presentan en la diapositiva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Tokens extraídos de la fuente original. Fondo editorial #17181B. Los tokens de adaptación representan las superficies de muestra. No se modifica el acento de la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Tonos refinados propuestos por el diseñador, no aprobados por el usuario. Se mantienen los mismos valores alfa y la misma geometría. Complementar con tooltip “Khipu · Activo” o “Khipu · Pausado”, texto de estado y menú Reanudar. Para alto contraste utilizar colores del sistema y texto explícito de estado.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Visualizar la exportación PNG al 100% para juzgar tamaño físico. El PPTX puede escalarse según pantalla. Ajustes ópticos: radio del ojo 2.45 vs 2.1 unidades, cuerda 2.5 vs 1.8, nudos 2.6 vs 2.35. Geometría sobre lienzo de 40 unidades.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Contexto verificado: packaging/AppxManifest.xml requiere StoreLogo, Square44x44Logo, Square150x150Logo y Wide310x150Logo. Microsoft Learn consultado 2026-10-05: https://learn.microsoft.com/en-us/windows/apps/design/iconography/app-icon-construction y https://learn.microsoft.com/en-us/windows/apps/publish/publish-your-app/msix/screenshots-and-images . Escalas 100,125,150,200,400. No se genera MSIX ni resources.pri ni se ejecuta Windows App Certification Kit. Paquete no certificado para publicación.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Estas indicaciones son recomendaciones documentadas para una integración futura. No se aplicaron al código. La distinción por intensidad sola puede perderse en pantallas o configuraciones de contraste, por lo que se necesita estado textual. No se incorpora pausa con barras.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3253f1fcc45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eb42dc45f34617" /><Relationship Type="http://schemas.openxmlformats.org/officeDocument/2006/relationships/slideLayout" Target="/ppt/slideLayouts/slideLayout1.xml" Id="R083a4b363f9646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3a4b363f9646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a00cfc2dc4c9b" /><Relationship Type="http://schemas.openxmlformats.org/officeDocument/2006/relationships/image" Target="/ppt/media/image.png" Id="R67415de199f04cf7" /><Relationship Type="http://schemas.openxmlformats.org/officeDocument/2006/relationships/notesSlide" Target="/ppt/notesSlides/notesSlide1.xml" Id="R06c890001e4940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dbbd03dc14525" /><Relationship Type="http://schemas.openxmlformats.org/officeDocument/2006/relationships/image" Target="/ppt/media/image2.png" Id="R72dd212cd5654b67" /><Relationship Type="http://schemas.openxmlformats.org/officeDocument/2006/relationships/notesSlide" Target="/ppt/notesSlides/notesSlide2.xml" Id="R154e13b9bad448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fddca895f41f4" /><Relationship Type="http://schemas.openxmlformats.org/officeDocument/2006/relationships/notesSlide" Target="/ppt/notesSlides/notesSlide3.xml" Id="Rc1054682565e4e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47a5cb5824a07" /><Relationship Type="http://schemas.openxmlformats.org/officeDocument/2006/relationships/image" Target="/ppt/media/image3.png" Id="R69c0fbb4c09e40e3" /><Relationship Type="http://schemas.openxmlformats.org/officeDocument/2006/relationships/image" Target="/ppt/media/image4.png" Id="R776a3e57ca8a4143" /><Relationship Type="http://schemas.openxmlformats.org/officeDocument/2006/relationships/image" Target="/ppt/media/image5.png" Id="R05b3ecece6024465" /><Relationship Type="http://schemas.openxmlformats.org/officeDocument/2006/relationships/image" Target="/ppt/media/image6.png" Id="Re12519b6c3154dbc" /><Relationship Type="http://schemas.openxmlformats.org/officeDocument/2006/relationships/image" Target="/ppt/media/image7.png" Id="R55a012067d2843af" /><Relationship Type="http://schemas.openxmlformats.org/officeDocument/2006/relationships/image" Target="/ppt/media/image8.png" Id="R937d630b806447ba" /><Relationship Type="http://schemas.openxmlformats.org/officeDocument/2006/relationships/notesSlide" Target="/ppt/notesSlides/notesSlide4.xml" Id="R858adccdcbab4c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dec02c2d14402" /><Relationship Type="http://schemas.openxmlformats.org/officeDocument/2006/relationships/image" Target="/ppt/media/image9.png" Id="Re23215faebcd4ebc" /><Relationship Type="http://schemas.openxmlformats.org/officeDocument/2006/relationships/image" Target="/ppt/media/image10.png" Id="R316d976afbc94974" /><Relationship Type="http://schemas.openxmlformats.org/officeDocument/2006/relationships/image" Target="/ppt/media/image11.png" Id="R7224e44011c040be" /><Relationship Type="http://schemas.openxmlformats.org/officeDocument/2006/relationships/image" Target="/ppt/media/image12.png" Id="R1174cc908fb94757" /><Relationship Type="http://schemas.openxmlformats.org/officeDocument/2006/relationships/notesSlide" Target="/ppt/notesSlides/notesSlide5.xml" Id="Rcfc718e277c549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9ae783b28415e" /><Relationship Type="http://schemas.openxmlformats.org/officeDocument/2006/relationships/notesSlide" Target="/ppt/notesSlides/notesSlide6.xml" Id="R46e029ecd6d048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dea6ee6624ae3" /><Relationship Type="http://schemas.openxmlformats.org/officeDocument/2006/relationships/image" Target="/ppt/media/image13.png" Id="R64ee7acf985b4aa2" /><Relationship Type="http://schemas.openxmlformats.org/officeDocument/2006/relationships/image" Target="/ppt/media/image14.png" Id="R84032cd4034e4ddc" /><Relationship Type="http://schemas.openxmlformats.org/officeDocument/2006/relationships/image" Target="/ppt/media/image15.png" Id="Rc647ae8b6652483c" /><Relationship Type="http://schemas.openxmlformats.org/officeDocument/2006/relationships/image" Target="/ppt/media/image16.png" Id="R3428f9a369624a48" /><Relationship Type="http://schemas.openxmlformats.org/officeDocument/2006/relationships/notesSlide" Target="/ppt/notesSlides/notesSlide7.xml" Id="R196dadebee874c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422a6a37b4f4e" /><Relationship Type="http://schemas.openxmlformats.org/officeDocument/2006/relationships/image" Target="/ppt/media/image17.png" Id="R7a405424214f41a5" /><Relationship Type="http://schemas.openxmlformats.org/officeDocument/2006/relationships/image" Target="/ppt/media/image18.png" Id="Rd08548dfa1884557" /><Relationship Type="http://schemas.openxmlformats.org/officeDocument/2006/relationships/image" Target="/ppt/media/image19.png" Id="Rc62a91020b6d4d99" /><Relationship Type="http://schemas.openxmlformats.org/officeDocument/2006/relationships/image" Target="/ppt/media/image20.png" Id="R8e7c886c8e424f04" /><Relationship Type="http://schemas.openxmlformats.org/officeDocument/2006/relationships/image" Target="/ppt/media/image21.png" Id="R994c6af07bdd4d76" /><Relationship Type="http://schemas.openxmlformats.org/officeDocument/2006/relationships/image" Target="/ppt/media/image22.png" Id="R51f0956e31a14116" /><Relationship Type="http://schemas.openxmlformats.org/officeDocument/2006/relationships/image" Target="/ppt/media/image23.png" Id="R77d362b2a9254c85" /><Relationship Type="http://schemas.openxmlformats.org/officeDocument/2006/relationships/image" Target="/ppt/media/image24.png" Id="R57461a221b9940b5" /><Relationship Type="http://schemas.openxmlformats.org/officeDocument/2006/relationships/image" Target="/ppt/media/image25.png" Id="R87e8c1dfb0d14f11" /><Relationship Type="http://schemas.openxmlformats.org/officeDocument/2006/relationships/image" Target="/ppt/media/image26.png" Id="R12954f9929e1424f" /><Relationship Type="http://schemas.openxmlformats.org/officeDocument/2006/relationships/image" Target="/ppt/media/image27.png" Id="R11e05aef646441da" /><Relationship Type="http://schemas.openxmlformats.org/officeDocument/2006/relationships/image" Target="/ppt/media/image28.png" Id="Rbb90e6ce554a4427" /><Relationship Type="http://schemas.openxmlformats.org/officeDocument/2006/relationships/image" Target="/ppt/media/image29.png" Id="Reb159ec5173a4036" /><Relationship Type="http://schemas.openxmlformats.org/officeDocument/2006/relationships/image" Target="/ppt/media/image30.png" Id="R6d3cce83291947db" /><Relationship Type="http://schemas.openxmlformats.org/officeDocument/2006/relationships/image" Target="/ppt/media/image31.png" Id="R47728546f13f4569" /><Relationship Type="http://schemas.openxmlformats.org/officeDocument/2006/relationships/image" Target="/ppt/media/image32.png" Id="R7dc0fe1935fe41a3" /><Relationship Type="http://schemas.openxmlformats.org/officeDocument/2006/relationships/notesSlide" Target="/ppt/notesSlides/notesSlide8.xml" Id="R6128e26b279245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07ff161134534" /><Relationship Type="http://schemas.openxmlformats.org/officeDocument/2006/relationships/image" Target="/ppt/media/image33.png" Id="R20757aad06ce4e09" /><Relationship Type="http://schemas.openxmlformats.org/officeDocument/2006/relationships/notesSlide" Target="/ppt/notesSlides/notesSlide9.xml" Id="R0e85584d03d141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129922baa4183" /><Relationship Type="http://schemas.openxmlformats.org/officeDocument/2006/relationships/notesSlide" Target="/ppt/notesSlides/notesSlide10.xml" Id="R514862efa7fd49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BECD1-C7F3-4273-9DDB-707C420C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KHIPU   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A852B-37E3-4806-811E-7EA9E8FE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810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8250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Khipu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0AD78-CB0A-4F97-B082-DC4C24DA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2850" b="0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Percha anudada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F0F7A-7543-44E3-83DC-5F276A68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Identidad e íconos para Windows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15de199f04cf7"/>
          <a:stretch xmlns:a="http://schemas.openxmlformats.org/drawingml/2006/main"/>
        </p:blipFill>
        <p:spPr>
          <a:xfrm xmlns:a="http://schemas.openxmlformats.org/drawingml/2006/main">
            <a:off x="7715250" y="1714500"/>
            <a:ext cx="3238500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140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85ACE-9822-4D48-846C-78AFAC55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El símbolo elegido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0C748-8851-4E62-896E-2E22B07F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KHIPU     02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d212cd5654b67"/>
          <a:stretch xmlns:a="http://schemas.openxmlformats.org/drawingml/2006/main"/>
        </p:blipFill>
        <p:spPr>
          <a:xfrm xmlns:a="http://schemas.openxmlformats.org/drawingml/2006/main">
            <a:off x="666750" y="1524000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05E10-A5C7-4DE4-9570-F3926EAD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192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Un personaje discreto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84FCC-6A78-4AEB-9CF4-4691723D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0275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El pájaro acompaña al usuario en la bandeja del sistema.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FC075-3C7F-49C7-A5B5-954A3157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81375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Una cuerda que guarda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B1265-3DAE-495A-923B-75A35C4C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62400"/>
            <a:ext cx="581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Los nudos conectan la identidad con el registro de información mediante cuerdas.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47D05-2889-4839-8784-0B002A4D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429250"/>
            <a:ext cx="595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Lectura gráfica del diseño, no motivos atribuidos al usuario.</a:t>
            </a:r>
          </a:p>
        </p:txBody>
      </p:sp>
    </p:spTree>
    <p:extLst>
      <p:ext uri="{BB962C8B-B14F-4D97-AF65-F5344CB8AC3E}">
        <p14:creationId xmlns:p14="http://schemas.microsoft.com/office/powerpoint/2010/main" val="674747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BBB28-2CB9-4A2F-9908-48AC5C15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La búsqueda de una identidad propia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E7F8C-B498-4FA8-A82B-A8BC7905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KHIPU   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D7E72-A83B-46B9-A59F-DACC361F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Primeras rutas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CFEA3-2F92-413A-80B5-E9F31CD2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524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Nudo abstracto</a:t>
            </a:r>
          </a:p>
          <a:p xmlns:a="http://schemas.openxmlformats.org/drawingml/2006/main">
            <a:pPr>
              <a:defRPr sz="255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K geométrica</a:t>
            </a:r>
          </a:p>
          <a:p xmlns:a="http://schemas.openxmlformats.org/drawingml/2006/main">
            <a:pPr>
              <a:defRPr sz="255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Líneas de texto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33265-0465-4CA9-90DB-2506025D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Lo que orientó la exploración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50211-DB62-4C9B-BBC0-F024AA8A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5286375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El usuario rechazó la K y las líneas por típicas y demasiado simples.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El nudo despertó interés, pero su dibujo resultaba difícil de comprender.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B5000-A745-4BD5-BF21-9B2F9161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Cuerdas y entrelazados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3EF4E-A63B-4BBA-B0F3-EA95B26F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Abanico anudado, Cinta plegada,</a:t>
            </a:r>
          </a:p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Órbita enlazada y Sello entretejido.</a:t>
            </a:r>
          </a:p>
        </p:txBody>
      </p:sp>
    </p:spTree>
    <p:extLst>
      <p:ext uri="{BB962C8B-B14F-4D97-AF65-F5344CB8AC3E}">
        <p14:creationId xmlns:p14="http://schemas.microsoft.com/office/powerpoint/2010/main" val="1273676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0FE7F-BC32-429C-A0DE-36202426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Seis territorios para Khipu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8C613-77A3-48D9-8223-73924853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KHIPU     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0fbb4c09e40e3"/>
          <a:stretch xmlns:a="http://schemas.openxmlformats.org/drawingml/2006/main"/>
        </p:blipFill>
        <p:spPr>
          <a:xfrm xmlns:a="http://schemas.openxmlformats.org/drawingml/2006/main">
            <a:off x="609600" y="202882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DF16B-15C3-4033-A062-44FB18E2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Semilla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a3e57ca8a4143"/>
          <a:stretch xmlns:a="http://schemas.openxmlformats.org/drawingml/2006/main"/>
        </p:blipFill>
        <p:spPr>
          <a:xfrm xmlns:a="http://schemas.openxmlformats.org/drawingml/2006/main">
            <a:off x="2476500" y="202882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1956C-F300-4D8C-AF9A-F8D49803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Umbral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3ecece6024465"/>
          <a:stretch xmlns:a="http://schemas.openxmlformats.org/drawingml/2006/main"/>
        </p:blipFill>
        <p:spPr>
          <a:xfrm xmlns:a="http://schemas.openxmlformats.org/drawingml/2006/main">
            <a:off x="4343400" y="202882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83DFE-7347-4F3E-840C-AB78EBC0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481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Cometa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519b6c3154dbc"/>
          <a:stretch xmlns:a="http://schemas.openxmlformats.org/drawingml/2006/main"/>
        </p:blipFill>
        <p:spPr>
          <a:xfrm xmlns:a="http://schemas.openxmlformats.org/drawingml/2006/main">
            <a:off x="6210300" y="202882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5BF95-0CF2-42DE-94E4-F3CED00A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Criatura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012067d2843af"/>
          <a:stretch xmlns:a="http://schemas.openxmlformats.org/drawingml/2006/main"/>
        </p:blipFill>
        <p:spPr>
          <a:xfrm xmlns:a="http://schemas.openxmlformats.org/drawingml/2006/main">
            <a:off x="8077200" y="202882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6346F-7B56-490F-B609-2C79C0C0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481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Fisura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d630b806447ba"/>
          <a:stretch xmlns:a="http://schemas.openxmlformats.org/drawingml/2006/main"/>
        </p:blipFill>
        <p:spPr>
          <a:xfrm xmlns:a="http://schemas.openxmlformats.org/drawingml/2006/main">
            <a:off x="9944100" y="202882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0C6D3-E19E-4203-BBC4-43352B14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481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Glifo inventado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450BE-2CA4-4D2F-9ECC-F4726BFC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Le gustaron las seis rutas. Quiso una conexión más clara con el nombre.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4D600-EBF2-4E06-8684-D136C0A8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Eligió explorar Criatura y sugirió un pájaro con cuerda.</a:t>
            </a:r>
          </a:p>
        </p:txBody>
      </p:sp>
    </p:spTree>
    <p:extLst>
      <p:ext uri="{BB962C8B-B14F-4D97-AF65-F5344CB8AC3E}">
        <p14:creationId xmlns:p14="http://schemas.microsoft.com/office/powerpoint/2010/main" val="1693582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8F8A0-D5A7-4C14-BD9C-198FA7E7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La decisión fue Percha anudada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2B46B-5B31-4FF5-B4EA-73D8F897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KHIPU     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215faebcd4ebc"/>
          <a:stretch xmlns:a="http://schemas.openxmlformats.org/drawingml/2006/main"/>
        </p:blipFill>
        <p:spPr>
          <a:xfrm xmlns:a="http://schemas.openxmlformats.org/drawingml/2006/main">
            <a:off x="609600" y="1762125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B2099-B4AF-4AA9-902A-1B3C4F9F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ADA54-A92A-416A-AACA-55B34C0D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Cuerda en el pico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d976afbc94974"/>
          <a:stretch xmlns:a="http://schemas.openxmlformats.org/drawingml/2006/main"/>
        </p:blipFill>
        <p:spPr>
          <a:xfrm xmlns:a="http://schemas.openxmlformats.org/drawingml/2006/main">
            <a:off x="3409950" y="1762125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18826-2D82-45A6-81F7-00FBCEA5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672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51E8B-50DE-4B00-BBDC-71AE5657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386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Cola de cordón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4e44011c040be"/>
          <a:stretch xmlns:a="http://schemas.openxmlformats.org/drawingml/2006/main"/>
        </p:blipFill>
        <p:spPr>
          <a:xfrm xmlns:a="http://schemas.openxmlformats.org/drawingml/2006/main">
            <a:off x="6210300" y="1762125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47EBD-574C-4222-B25E-62A8A20B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7BD20-C8BE-4258-A0EE-7FB98AF6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386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Ala con registro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4cc908fb94757"/>
          <a:stretch xmlns:a="http://schemas.openxmlformats.org/drawingml/2006/main"/>
        </p:blipFill>
        <p:spPr>
          <a:xfrm xmlns:a="http://schemas.openxmlformats.org/drawingml/2006/main">
            <a:off x="9010650" y="1762125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399A6-62EE-4256-9DC4-4F998D2F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672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02105-DECB-4393-988E-A521439B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386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Percha anudada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78B53-EE85-4700-ABDD-BB7D7CE6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El usuario eligió la cuarta por gusto propio. Quiso conservarla.</a:t>
            </a:r>
          </a:p>
        </p:txBody>
      </p:sp>
    </p:spTree>
    <p:extLst>
      <p:ext uri="{BB962C8B-B14F-4D97-AF65-F5344CB8AC3E}">
        <p14:creationId xmlns:p14="http://schemas.microsoft.com/office/powerpoint/2010/main" val="683975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36728-7E14-40F6-849B-99BF9823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Paleta de marca y adaptación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D8836-2A36-42BF-B1ED-709E4E53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KHIPU   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02517-3763-4F60-96A0-8263970E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B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06118-82BA-4B62-8D2A-D2FCC1EA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11B37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211B37"/>
                </a:solidFill>
                <a:latin typeface="Segoe UI"/>
                <a:ea typeface="Segoe UI"/>
                <a:cs typeface="Segoe UI"/>
              </a:rPr>
              <a:t>Violeta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D08F4-51C7-4052-BEBA-A43DEA1D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1B3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1B37"/>
                </a:solidFill>
                <a:latin typeface="Segoe UI"/>
                <a:ea typeface="Segoe UI"/>
                <a:cs typeface="Segoe UI"/>
              </a:rPr>
              <a:t>#A99BE7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DCEEF-0F80-4B6F-BCE9-EB08A689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335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B3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A8FCC-0044-40E9-AA5C-25D127D3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28825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Tinta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76C91-D94A-42E2-858A-C06B8EB9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52775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#211B37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FE7AC-E4B7-4D36-8AFB-1F565585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28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Marca fija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0496A-B539-49D7-A1CE-E9634347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76500"/>
            <a:ext cx="4095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La identidad conserva el violeta elegido. La interfaz sigue su configuración de tema y acento de Windows.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486C4-C555-4EDE-964D-41EFCAFE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Bandeja oscura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4D152-0240-4485-9515-899D8235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4429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Superficie #25272D</a:t>
            </a:r>
          </a:p>
          <a:p xmlns:a="http://schemas.openxmlformats.org/drawingml/2006/main">
            <a:pPr>
              <a:defRPr sz="20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Silueta #F3F4F7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8A618-ED8B-410C-90DB-C2E57D3D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Bandeja clara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D689D-A57A-4F1B-AE0D-6BDCFC94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4429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Superficie #ECEEF2</a:t>
            </a:r>
          </a:p>
          <a:p xmlns:a="http://schemas.openxmlformats.org/drawingml/2006/main">
            <a:pPr>
              <a:defRPr sz="20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Silueta #22252C</a:t>
            </a:r>
          </a:p>
        </p:txBody>
      </p:sp>
    </p:spTree>
    <p:extLst>
      <p:ext uri="{BB962C8B-B14F-4D97-AF65-F5344CB8AC3E}">
        <p14:creationId xmlns:p14="http://schemas.microsoft.com/office/powerpoint/2010/main" val="7036686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78EBF-8D01-4F56-8640-C5E18F7C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Activo y pausado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DCC6E-163C-4E71-88D9-06EFA9A1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KHIPU   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923BE-326F-4AE5-B7EE-84A2EDFD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3340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72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FADED-1D0C-413D-B14F-19EF3737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Bandeja oscura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e7acf985b4aa2"/>
          <a:stretch xmlns:a="http://schemas.openxmlformats.org/drawingml/2006/main"/>
        </p:blipFill>
        <p:spPr>
          <a:xfrm xmlns:a="http://schemas.openxmlformats.org/drawingml/2006/main">
            <a:off x="1485900" y="2619375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4C328-ECB9-428A-8A4D-D0B6CBD2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86225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Activo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32cd4034e4ddc"/>
          <a:stretch xmlns:a="http://schemas.openxmlformats.org/drawingml/2006/main"/>
        </p:blipFill>
        <p:spPr>
          <a:xfrm xmlns:a="http://schemas.openxmlformats.org/drawingml/2006/main">
            <a:off x="3886200" y="2619375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F957A-5605-44DC-80C6-53E68CFB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86225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Pausado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6D09D-B9DE-4A52-A557-CE42FC38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90675"/>
            <a:ext cx="53340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60F8D-433F-4021-B1B4-B4903FE0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38325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52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2252C"/>
                </a:solidFill>
                <a:latin typeface="Segoe UI"/>
                <a:ea typeface="Segoe UI"/>
                <a:cs typeface="Segoe UI"/>
              </a:rPr>
              <a:t>Bandeja clara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7ae8b6652483c"/>
          <a:stretch xmlns:a="http://schemas.openxmlformats.org/drawingml/2006/main"/>
        </p:blipFill>
        <p:spPr>
          <a:xfrm xmlns:a="http://schemas.openxmlformats.org/drawingml/2006/main">
            <a:off x="7124700" y="2619375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010A5-89C0-4CF0-BAD4-864F5423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86225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5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2252C"/>
                </a:solidFill>
                <a:latin typeface="Segoe UI"/>
                <a:ea typeface="Segoe UI"/>
                <a:cs typeface="Segoe UI"/>
              </a:rPr>
              <a:t>Activo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8f9a369624a48"/>
          <a:stretch xmlns:a="http://schemas.openxmlformats.org/drawingml/2006/main"/>
        </p:blipFill>
        <p:spPr>
          <a:xfrm xmlns:a="http://schemas.openxmlformats.org/drawingml/2006/main">
            <a:off x="9525000" y="2619375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66DFB-8665-4B95-805A-1EE1F5F6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86225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5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2252C"/>
                </a:solidFill>
                <a:latin typeface="Segoe UI"/>
                <a:ea typeface="Segoe UI"/>
                <a:cs typeface="Segoe UI"/>
              </a:rPr>
              <a:t>Pausado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9738E-6E30-4FF0-8D27-DDE1FCA2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La pausa conserva el pájaro y reduce su intensidad.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0DD9D-78B9-40A5-A5AC-A9D02AEB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Propuesta: #9497A1 en oscuro y #747781 en claro.</a:t>
            </a:r>
          </a:p>
        </p:txBody>
      </p:sp>
    </p:spTree>
    <p:extLst>
      <p:ext uri="{BB962C8B-B14F-4D97-AF65-F5344CB8AC3E}">
        <p14:creationId xmlns:p14="http://schemas.microsoft.com/office/powerpoint/2010/main" val="8378287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63CDB0-19A3-4A9B-B747-F48EBCF7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La identidad a tamaños pequeños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3C592-C564-4F2F-AA37-B3D2B7AB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KHIPU  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5F8E6-B6A4-48AD-A80E-9CCDCB04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334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72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10B05-6A80-4A99-AE5D-3B3AB5CD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19275"/>
            <a:ext cx="4800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Oscuro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05424214f41a5"/>
          <a:stretch xmlns:a="http://schemas.openxmlformats.org/drawingml/2006/main"/>
        </p:blipFill>
        <p:spPr>
          <a:xfrm xmlns:a="http://schemas.openxmlformats.org/drawingml/2006/main">
            <a:off x="1028700" y="273367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548dfa1884557"/>
          <a:stretch xmlns:a="http://schemas.openxmlformats.org/drawingml/2006/main"/>
        </p:blipFill>
        <p:spPr>
          <a:xfrm xmlns:a="http://schemas.openxmlformats.org/drawingml/2006/main">
            <a:off x="1028700" y="35337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9F175-05E5-403C-B753-C8E07D7F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16 px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a91020b6d4d99"/>
          <a:stretch xmlns:a="http://schemas.openxmlformats.org/drawingml/2006/main"/>
        </p:blipFill>
        <p:spPr>
          <a:xfrm xmlns:a="http://schemas.openxmlformats.org/drawingml/2006/main">
            <a:off x="2257425" y="273367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c886c8e424f04"/>
          <a:stretch xmlns:a="http://schemas.openxmlformats.org/drawingml/2006/main"/>
        </p:blipFill>
        <p:spPr>
          <a:xfrm xmlns:a="http://schemas.openxmlformats.org/drawingml/2006/main">
            <a:off x="2257425" y="35337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F5A2F-319F-46A2-AD85-322E5869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386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20 px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c6af07bdd4d76"/>
          <a:stretch xmlns:a="http://schemas.openxmlformats.org/drawingml/2006/main"/>
        </p:blipFill>
        <p:spPr>
          <a:xfrm xmlns:a="http://schemas.openxmlformats.org/drawingml/2006/main">
            <a:off x="3486150" y="273367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0956e31a14116"/>
          <a:stretch xmlns:a="http://schemas.openxmlformats.org/drawingml/2006/main"/>
        </p:blipFill>
        <p:spPr>
          <a:xfrm xmlns:a="http://schemas.openxmlformats.org/drawingml/2006/main">
            <a:off x="3486150" y="3533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D5DFF-66FE-432B-AE22-289A6C5B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386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24 px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362b2a9254c85"/>
          <a:stretch xmlns:a="http://schemas.openxmlformats.org/drawingml/2006/main"/>
        </p:blipFill>
        <p:spPr>
          <a:xfrm xmlns:a="http://schemas.openxmlformats.org/drawingml/2006/main">
            <a:off x="4714875" y="27336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61a221b9940b5"/>
          <a:stretch xmlns:a="http://schemas.openxmlformats.org/drawingml/2006/main"/>
        </p:blipFill>
        <p:spPr>
          <a:xfrm xmlns:a="http://schemas.openxmlformats.org/drawingml/2006/main">
            <a:off x="4714875" y="35337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AB601-6346-469A-90C5-56ACEC88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386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32 px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1C415-5E94-4850-AEBF-69E46D59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47825"/>
            <a:ext cx="5334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6DF8E-2F0B-40A4-A031-C80A8A68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19275"/>
            <a:ext cx="4800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52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2252C"/>
                </a:solidFill>
                <a:latin typeface="Segoe UI"/>
                <a:ea typeface="Segoe UI"/>
                <a:cs typeface="Segoe UI"/>
              </a:rPr>
              <a:t>Claro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8c1dfb0d14f11"/>
          <a:stretch xmlns:a="http://schemas.openxmlformats.org/drawingml/2006/main"/>
        </p:blipFill>
        <p:spPr>
          <a:xfrm xmlns:a="http://schemas.openxmlformats.org/drawingml/2006/main">
            <a:off x="6667500" y="273367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54f9929e1424f"/>
          <a:stretch xmlns:a="http://schemas.openxmlformats.org/drawingml/2006/main"/>
        </p:blipFill>
        <p:spPr>
          <a:xfrm xmlns:a="http://schemas.openxmlformats.org/drawingml/2006/main">
            <a:off x="6667500" y="35337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30627-B40E-432B-9813-FA38ED1D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386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52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2252C"/>
                </a:solidFill>
                <a:latin typeface="Segoe UI"/>
                <a:ea typeface="Segoe UI"/>
                <a:cs typeface="Segoe UI"/>
              </a:rPr>
              <a:t>16 px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05aef646441da"/>
          <a:stretch xmlns:a="http://schemas.openxmlformats.org/drawingml/2006/main"/>
        </p:blipFill>
        <p:spPr>
          <a:xfrm xmlns:a="http://schemas.openxmlformats.org/drawingml/2006/main">
            <a:off x="7896225" y="273367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0e6ce554a4427"/>
          <a:stretch xmlns:a="http://schemas.openxmlformats.org/drawingml/2006/main"/>
        </p:blipFill>
        <p:spPr>
          <a:xfrm xmlns:a="http://schemas.openxmlformats.org/drawingml/2006/main">
            <a:off x="7896225" y="35337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39A843-63E9-4656-9B90-062EC307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386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52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2252C"/>
                </a:solidFill>
                <a:latin typeface="Segoe UI"/>
                <a:ea typeface="Segoe UI"/>
                <a:cs typeface="Segoe UI"/>
              </a:rPr>
              <a:t>20 px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59ec5173a4036"/>
          <a:stretch xmlns:a="http://schemas.openxmlformats.org/drawingml/2006/main"/>
        </p:blipFill>
        <p:spPr>
          <a:xfrm xmlns:a="http://schemas.openxmlformats.org/drawingml/2006/main">
            <a:off x="9124950" y="273367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cce83291947db"/>
          <a:stretch xmlns:a="http://schemas.openxmlformats.org/drawingml/2006/main"/>
        </p:blipFill>
        <p:spPr>
          <a:xfrm xmlns:a="http://schemas.openxmlformats.org/drawingml/2006/main">
            <a:off x="9124950" y="3533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C6BC2-00B3-419C-AAED-870F4BE8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386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52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2252C"/>
                </a:solidFill>
                <a:latin typeface="Segoe UI"/>
                <a:ea typeface="Segoe UI"/>
                <a:cs typeface="Segoe UI"/>
              </a:rPr>
              <a:t>24 px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28546f13f4569"/>
          <a:stretch xmlns:a="http://schemas.openxmlformats.org/drawingml/2006/main"/>
        </p:blipFill>
        <p:spPr>
          <a:xfrm xmlns:a="http://schemas.openxmlformats.org/drawingml/2006/main">
            <a:off x="10353675" y="27336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0fe1935fe41a3"/>
          <a:stretch xmlns:a="http://schemas.openxmlformats.org/drawingml/2006/main"/>
        </p:blipFill>
        <p:spPr>
          <a:xfrm xmlns:a="http://schemas.openxmlformats.org/drawingml/2006/main">
            <a:off x="10353675" y="35337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93D12C-8905-4B0C-8109-B7C78B51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2386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52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2252C"/>
                </a:solidFill>
                <a:latin typeface="Segoe UI"/>
                <a:ea typeface="Segoe UI"/>
                <a:cs typeface="Segoe UI"/>
              </a:rPr>
              <a:t>32 px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15EA69-37F6-424E-AA90-B0936F9D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Vista a tamaño real dentro de la diapositiva de 1280 × 720 px.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A1C7FC-D5E9-42FB-8C7A-CDE6A7B2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Ojo, cuerda y nudos reciben ajustes ópticos a 16–24 px.</a:t>
            </a:r>
          </a:p>
        </p:txBody>
      </p:sp>
    </p:spTree>
    <p:extLst>
      <p:ext uri="{BB962C8B-B14F-4D97-AF65-F5344CB8AC3E}">
        <p14:creationId xmlns:p14="http://schemas.microsoft.com/office/powerpoint/2010/main" val="1672646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57DFC-B605-4282-81DE-58EABBED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Archivos para Windows y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0839E-D764-4722-B4D1-9435514B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KHIPU   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E7BE4-4E64-4927-BC98-018967F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Aplicación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60F80-B36A-4C00-9A18-56126604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81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ICO con 9 resoluciones</a:t>
            </a:r>
          </a:p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16 a 256 px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SVG maestro editable</a:t>
            </a:r>
          </a:p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PNG de 256 px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1279A-DBC4-41DD-8BAF-7AE5C131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6192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Paquete MSIX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E39E4-8337-421D-A4BE-488BBBB0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4 entradas del manifiesto</a:t>
            </a:r>
          </a:p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5 escalas por entrada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14 tamaños de AppList</a:t>
            </a:r>
          </a:p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3 variantes por tamaño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6BDC7-6C4C-47CA-ACE9-464248A7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Ficha de Store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57aad06ce4e09"/>
          <a:stretch xmlns:a="http://schemas.openxmlformats.org/drawingml/2006/main"/>
        </p:blipFill>
        <p:spPr>
          <a:xfrm xmlns:a="http://schemas.openxmlformats.org/drawingml/2006/main">
            <a:off x="8420100" y="2286000"/>
            <a:ext cx="1857375" cy="1857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3C3CC-2CFD-444B-BF50-6C7AC79D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0532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PNG de 300 × 300 px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59046-6CDB-4D32-B8C6-E28CCAAA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Recursos preparados para integración posterior. La app conserva sus archivos.</a:t>
            </a:r>
          </a:p>
        </p:txBody>
      </p:sp>
    </p:spTree>
    <p:extLst>
      <p:ext uri="{BB962C8B-B14F-4D97-AF65-F5344CB8AC3E}">
        <p14:creationId xmlns:p14="http://schemas.microsoft.com/office/powerpoint/2010/main" val="6490429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DAEC5-8B14-458D-A52A-498ECB9D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Coherencia de uso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0DF14-8B73-453D-9771-E5194F06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KHIPU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A2DBF-6D74-468D-914E-4722E425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La forma se conserva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2EB05-84C9-4B4F-B606-41D02583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Pájaro mirando a la derecha, ojo circular en negativo,</a:t>
            </a:r>
          </a:p>
          <a:p xmlns:a="http://schemas.openxmlformats.org/drawingml/2006/main">
            <a:pPr>
              <a:defRPr sz="2250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percha curva y dos nudos. Proporciones constantes.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8B625-31C7-4CE3-8460-DC072F50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9BE7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A99BE7"/>
                </a:solidFill>
                <a:latin typeface="Segoe UI"/>
                <a:ea typeface="Segoe UI"/>
                <a:cs typeface="Segoe UI"/>
              </a:rPr>
              <a:t>El estado también se expresa con texto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987C5-75DB-4EE8-B5E3-BC46BDA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Tooltip: “Khipu · Activo” o “Khipu · Pausado”.</a:t>
            </a:r>
          </a:p>
          <a:p xmlns:a="http://schemas.openxmlformats.org/drawingml/2006/main">
            <a:pPr>
              <a:defRPr sz="2175" b="0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La interfaz y el menú deben indicar cuándo se puede reanudar.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D1DE8-B6CE-4546-A666-77ADFC5C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4F7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3F4F7"/>
                </a:solidFill>
                <a:latin typeface="Segoe UI"/>
                <a:ea typeface="Segoe UI"/>
                <a:cs typeface="Segoe UI"/>
              </a:rPr>
              <a:t>La integración requiere una comprobación posterior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DC326-220C-41FB-80BF-30BDCE0A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8BBC5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8BBC5"/>
                </a:solidFill>
                <a:latin typeface="Segoe UI"/>
                <a:ea typeface="Segoe UI"/>
                <a:cs typeface="Segoe UI"/>
              </a:rPr>
              <a:t>Revisar bandeja real, DPI, alto contraste y recursos MSIX antes de publicar.</a:t>
            </a:r>
          </a:p>
        </p:txBody>
      </p:sp>
    </p:spTree>
    <p:extLst>
      <p:ext uri="{BB962C8B-B14F-4D97-AF65-F5344CB8AC3E}">
        <p14:creationId xmlns:p14="http://schemas.microsoft.com/office/powerpoint/2010/main" val="225746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2026-10-05T08:14:07.8800000Z</dcterms:created>
  <dcterms:modified xsi:type="dcterms:W3CDTF">2026-10-05T08:14:07.8800000Z</dcterms:modified>
</coreProperties>
</file>